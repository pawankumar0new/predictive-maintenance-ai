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8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209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3D3F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3D3F5C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5" name="Image 0" descr="/home/claude/ppt/icon_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156716"/>
            <a:ext cx="704088" cy="7040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286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PREDICTIVE MAINTENANCE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97480"/>
            <a:ext cx="103601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Machine Health &amp;</a:t>
            </a:r>
            <a:endParaRPr lang="en-US" sz="40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System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4526280"/>
            <a:ext cx="9262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machine failure risk from operating data — built on the UCI AI4I 2020 dataset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02636" y="55321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D3F5C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02636" y="5532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97196" y="55321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D3F5C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97196" y="5532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91756" y="55321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D3F5C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91756" y="5532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Failures Are Costly — and Sudden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can stop working because of high temperature, high torque, unusual speed, or worn tools. Repairing a machine after it breaks costs money and halts production.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" y="27432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5F6F8"/>
          </a:solidFill>
          <a:ln/>
        </p:spPr>
      </p:sp>
      <p:sp>
        <p:nvSpPr>
          <p:cNvPr id="6" name="Shape 4"/>
          <p:cNvSpPr/>
          <p:nvPr/>
        </p:nvSpPr>
        <p:spPr>
          <a:xfrm>
            <a:off x="1796796" y="3108960"/>
            <a:ext cx="914400" cy="914400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7" name="Image 0" descr="/home/claude/ppt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956" y="32461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Failure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46634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breaks down with no warning.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41648" y="3986784"/>
            <a:ext cx="265176" cy="164592"/>
          </a:xfrm>
          <a:prstGeom prst="rightArrow">
            <a:avLst/>
          </a:prstGeom>
          <a:solidFill>
            <a:srgbClr val="8D99AE"/>
          </a:solidFill>
          <a:ln/>
        </p:spPr>
      </p:sp>
      <p:sp>
        <p:nvSpPr>
          <p:cNvPr id="11" name="Shape 8"/>
          <p:cNvSpPr/>
          <p:nvPr/>
        </p:nvSpPr>
        <p:spPr>
          <a:xfrm>
            <a:off x="4334256" y="27432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5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5637276" y="3108960"/>
            <a:ext cx="914400" cy="914400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13" name="Image 1" descr="/home/claude/ppt/icon_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436" y="324612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17136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&amp; Repair Cost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08576" y="46634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stops; repairs are expensive.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82128" y="3986784"/>
            <a:ext cx="265176" cy="164592"/>
          </a:xfrm>
          <a:prstGeom prst="rightArrow">
            <a:avLst/>
          </a:prstGeom>
          <a:solidFill>
            <a:srgbClr val="8D99AE"/>
          </a:solidFill>
          <a:ln/>
        </p:spPr>
      </p:sp>
      <p:sp>
        <p:nvSpPr>
          <p:cNvPr id="17" name="Shape 13"/>
          <p:cNvSpPr/>
          <p:nvPr/>
        </p:nvSpPr>
        <p:spPr>
          <a:xfrm>
            <a:off x="8174736" y="27432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5F6F8"/>
          </a:solidFill>
          <a:ln/>
        </p:spPr>
      </p:sp>
      <p:sp>
        <p:nvSpPr>
          <p:cNvPr id="18" name="Shape 14"/>
          <p:cNvSpPr/>
          <p:nvPr/>
        </p:nvSpPr>
        <p:spPr>
          <a:xfrm>
            <a:off x="9477756" y="3108960"/>
            <a:ext cx="914400" cy="91440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9" name="Image 2" descr="/home/claude/ppt/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916" y="324612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57616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Early Warning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449056" y="46634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risk earlier avoids the surprise.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Predictive Maintenance?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to predict a possible machine problem — before the machine actually fails.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studies thousands of past examples and learns the patterns that link machine conditions to failures. Give it new readings, and it predicts the risk.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MACHINE READING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4323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2432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2944368"/>
            <a:ext cx="4480560" cy="0"/>
          </a:xfrm>
          <a:prstGeom prst="line">
            <a:avLst/>
          </a:prstGeom>
          <a:noFill/>
          <a:ln w="12700">
            <a:solidFill>
              <a:srgbClr val="3D3F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Temperature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2999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3511296"/>
            <a:ext cx="4480560" cy="0"/>
          </a:xfrm>
          <a:prstGeom prst="line">
            <a:avLst/>
          </a:prstGeom>
          <a:noFill/>
          <a:ln w="12700">
            <a:solidFill>
              <a:srgbClr val="3D3F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rpm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4078224"/>
            <a:ext cx="4480560" cy="0"/>
          </a:xfrm>
          <a:prstGeom prst="line">
            <a:avLst/>
          </a:prstGeom>
          <a:noFill/>
          <a:ln w="12700">
            <a:solidFill>
              <a:srgbClr val="3D3F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4133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4133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Nm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4645152"/>
            <a:ext cx="4480560" cy="0"/>
          </a:xfrm>
          <a:prstGeom prst="line">
            <a:avLst/>
          </a:prstGeom>
          <a:noFill/>
          <a:ln w="12700">
            <a:solidFill>
              <a:srgbClr val="3D3F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7000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47000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minutes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AI4I 2020 Predictive Maintenance Dataset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simulated dataset — large enough to learn from, small enough to run on a normal computer.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834640" cy="1737360"/>
          </a:xfrm>
          <a:prstGeom prst="roundRect">
            <a:avLst>
              <a:gd name="adj" fmla="val 6316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957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27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86123" y="2286000"/>
            <a:ext cx="768096" cy="768096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9" name="Image 0" descr="/home/claude/ppt/icon_thermo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338" y="2401214"/>
            <a:ext cx="537667" cy="5376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794760" y="3154680"/>
            <a:ext cx="14593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36946" y="2286000"/>
            <a:ext cx="768096" cy="768096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12" name="Image 1" descr="/home/claude/ppt/icon_thermo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01214"/>
            <a:ext cx="537667" cy="5376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5582" y="3154680"/>
            <a:ext cx="14593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Temperature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287768" y="2286000"/>
            <a:ext cx="768096" cy="768096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15" name="Image 2" descr="/home/claude/ppt/icon_tachome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982" y="2401214"/>
            <a:ext cx="537667" cy="5376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6405" y="3154680"/>
            <a:ext cx="14593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838590" y="2286000"/>
            <a:ext cx="768096" cy="768096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18" name="Image 3" descr="/home/claude/ppt/icon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805" y="2401214"/>
            <a:ext cx="537667" cy="5376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47227" y="3154680"/>
            <a:ext cx="14593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10389413" y="2286000"/>
            <a:ext cx="768096" cy="768096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21" name="Image 4" descr="/home/claude/ppt/icon_wre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4627" y="2401214"/>
            <a:ext cx="537667" cy="53766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98050" y="3154680"/>
            <a:ext cx="14593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3794760" y="3977640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Failure column marking whether the machine actually failed — this is the target the model learns to predict.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40080" y="4892040"/>
            <a:ext cx="10908792" cy="822960"/>
          </a:xfrm>
          <a:prstGeom prst="roundRect">
            <a:avLst>
              <a:gd name="adj" fmla="val 11111"/>
            </a:avLst>
          </a:prstGeom>
          <a:solidFill>
            <a:srgbClr val="F5F6F8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960120" y="4892040"/>
            <a:ext cx="10268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52878" cy="2606040"/>
          </a:xfrm>
          <a:prstGeom prst="roundRect">
            <a:avLst>
              <a:gd name="adj" fmla="val 4473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1272159" y="1965960"/>
            <a:ext cx="1188720" cy="1188720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6" name="Image 0" descr="/home/claude/ppt/icon_clipboard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467" y="2144268"/>
            <a:ext cx="832104" cy="8321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337560"/>
            <a:ext cx="2269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Machine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29534" y="2478024"/>
            <a:ext cx="292608" cy="164592"/>
          </a:xfrm>
          <a:prstGeom prst="rightArrow">
            <a:avLst/>
          </a:prstGeom>
          <a:solidFill>
            <a:srgbClr val="F0A202"/>
          </a:solidFill>
          <a:ln/>
        </p:spPr>
      </p:sp>
      <p:sp>
        <p:nvSpPr>
          <p:cNvPr id="9" name="Shape 6"/>
          <p:cNvSpPr/>
          <p:nvPr/>
        </p:nvSpPr>
        <p:spPr>
          <a:xfrm>
            <a:off x="3458718" y="1737360"/>
            <a:ext cx="2452878" cy="2606040"/>
          </a:xfrm>
          <a:prstGeom prst="roundRect">
            <a:avLst>
              <a:gd name="adj" fmla="val 4473"/>
            </a:avLst>
          </a:prstGeom>
          <a:solidFill>
            <a:srgbClr val="F5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4090797" y="1965960"/>
            <a:ext cx="1188720" cy="1188720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11" name="Image 1" descr="/home/claude/ppt/icon_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105" y="2144268"/>
            <a:ext cx="832104" cy="8321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0158" y="3337560"/>
            <a:ext cx="2269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8172" y="2478024"/>
            <a:ext cx="292608" cy="164592"/>
          </a:xfrm>
          <a:prstGeom prst="rightArrow">
            <a:avLst/>
          </a:prstGeom>
          <a:solidFill>
            <a:srgbClr val="F0A202"/>
          </a:solidFill>
          <a:ln/>
        </p:spPr>
      </p:sp>
      <p:sp>
        <p:nvSpPr>
          <p:cNvPr id="14" name="Shape 10"/>
          <p:cNvSpPr/>
          <p:nvPr/>
        </p:nvSpPr>
        <p:spPr>
          <a:xfrm>
            <a:off x="6277356" y="1737360"/>
            <a:ext cx="2452878" cy="2606040"/>
          </a:xfrm>
          <a:prstGeom prst="roundRect">
            <a:avLst>
              <a:gd name="adj" fmla="val 4473"/>
            </a:avLst>
          </a:prstGeom>
          <a:solidFill>
            <a:srgbClr val="F5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6909435" y="1965960"/>
            <a:ext cx="1188720" cy="118872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6" name="Image 2" descr="/home/claude/ppt/icon_heartb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743" y="2144268"/>
            <a:ext cx="832104" cy="8321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8796" y="3337560"/>
            <a:ext cx="2269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Failure Risk &amp;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766810" y="2478024"/>
            <a:ext cx="292608" cy="164592"/>
          </a:xfrm>
          <a:prstGeom prst="rightArrow">
            <a:avLst/>
          </a:prstGeom>
          <a:solidFill>
            <a:srgbClr val="F0A202"/>
          </a:solidFill>
          <a:ln/>
        </p:spPr>
      </p:sp>
      <p:sp>
        <p:nvSpPr>
          <p:cNvPr id="19" name="Shape 14"/>
          <p:cNvSpPr/>
          <p:nvPr/>
        </p:nvSpPr>
        <p:spPr>
          <a:xfrm>
            <a:off x="9095994" y="1737360"/>
            <a:ext cx="2452878" cy="2606040"/>
          </a:xfrm>
          <a:prstGeom prst="roundRect">
            <a:avLst>
              <a:gd name="adj" fmla="val 4473"/>
            </a:avLst>
          </a:prstGeom>
          <a:solidFill>
            <a:srgbClr val="F5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9728073" y="1965960"/>
            <a:ext cx="1188720" cy="1188720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21" name="Image 3" descr="/home/claude/ppt/icon_bullho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381" y="2144268"/>
            <a:ext cx="832104" cy="8321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7434" y="3337560"/>
            <a:ext cx="2269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Simple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→ Random Forest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22376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" y="2103120"/>
            <a:ext cx="822960" cy="822960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6" name="Image 0" descr="/home/claude/ppt/icon_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2226564"/>
            <a:ext cx="576072" cy="5760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" y="3063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88136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88136" y="38862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— it makes decisions by asking questions like “Is tool wear above X?” A great starting baseline.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88736" y="3621024"/>
            <a:ext cx="411480" cy="164592"/>
          </a:xfrm>
          <a:prstGeom prst="rightArrow">
            <a:avLst/>
          </a:prstGeom>
          <a:solidFill>
            <a:srgbClr val="F0A202"/>
          </a:solidFill>
          <a:ln/>
        </p:spPr>
      </p:sp>
      <p:sp>
        <p:nvSpPr>
          <p:cNvPr id="11" name="Shape 8"/>
          <p:cNvSpPr/>
          <p:nvPr/>
        </p:nvSpPr>
        <p:spPr>
          <a:xfrm>
            <a:off x="6345936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2B2D42"/>
          </a:solidFill>
          <a:ln/>
        </p:spPr>
      </p:sp>
      <p:sp>
        <p:nvSpPr>
          <p:cNvPr id="12" name="Shape 9"/>
          <p:cNvSpPr/>
          <p:nvPr/>
        </p:nvSpPr>
        <p:spPr>
          <a:xfrm>
            <a:off x="6711696" y="2103120"/>
            <a:ext cx="822960" cy="82296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3" name="Image 1" descr="/home/claude/ppt/icon_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2226564"/>
            <a:ext cx="576072" cy="5760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711696" y="3063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STRONGER BASELINE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711696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6711696" y="38862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 and averages their answers — usually more accurate and more reliable than any single tree.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User Sees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94560" y="1691640"/>
            <a:ext cx="7799832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651760" y="21031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FCEBD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5176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WARNING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RISK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28/100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4069080"/>
            <a:ext cx="6885432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4251960"/>
            <a:ext cx="688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 FACTOR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526280"/>
            <a:ext cx="688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Tool Wear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937760"/>
            <a:ext cx="688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5212080"/>
            <a:ext cx="688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machine and consider maintenance soon.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0" y="5897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Used Is Free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21792" cy="621792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6" name="Image 0" descr="/home/claude/ppt/icon_laptop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2059229"/>
            <a:ext cx="435254" cy="435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974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99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language for the AI part.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965960"/>
            <a:ext cx="621792" cy="621792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11" name="Image 1" descr="/home/claude/ppt/icon_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2059229"/>
            <a:ext cx="435254" cy="43525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974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999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A tool for loading and working with data in table form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965960"/>
            <a:ext cx="621792" cy="621792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16" name="Image 2" descr="/home/claude/ppt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029" y="2059229"/>
            <a:ext cx="435254" cy="43525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6974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999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A tool for doing fast math on large sets of numbers.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977640"/>
            <a:ext cx="621792" cy="621792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21" name="Image 3" descr="/home/claude/ppt/icon_tr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49" y="4070909"/>
            <a:ext cx="435254" cy="43525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47091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010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the machine-learning model.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7490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3977640"/>
            <a:ext cx="621792" cy="621792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26" name="Image 4" descr="/home/claude/ppt/icon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0989" y="4070909"/>
            <a:ext cx="435254" cy="43525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7720" y="47091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010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graphs to explore the data.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6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3977640"/>
            <a:ext cx="621792" cy="621792"/>
          </a:xfrm>
          <a:prstGeom prst="ellipse">
            <a:avLst/>
          </a:prstGeom>
          <a:solidFill>
            <a:srgbClr val="454A75"/>
          </a:solidFill>
          <a:ln/>
        </p:spPr>
      </p:sp>
      <p:pic>
        <p:nvPicPr>
          <p:cNvPr id="31" name="Image 5" descr="/home/claude/ppt/icon_deskt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0029" y="4070909"/>
            <a:ext cx="435254" cy="43525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66760" y="47091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5010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simple web interface for the demo.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857375"/>
            <a:ext cx="5276850" cy="447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57375"/>
            <a:ext cx="5276850" cy="447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15750" y="644842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A0A5B5"/>
                </a:solidFill>
                <a:latin typeface="Plus Jakarta Sans SemiBol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523875"/>
            <a:ext cx="1085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SYSTEM DEPLOYMENT &amp;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752475"/>
            <a:ext cx="1140142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sz="3000" b="1" i="0" u="none">
                <a:solidFill>
                  <a:srgbClr val="262938"/>
                </a:solidFill>
                <a:latin typeface="Merriweather"/>
              </a:rPr>
              <a:t>Project Access &amp; Live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7750" y="5534025"/>
            <a:ext cx="4514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85900" y="5648325"/>
            <a:ext cx="39052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262938"/>
                </a:solidFill>
                <a:latin typeface="Plus Jakarta Sans SemiBold"/>
              </a:rPr>
              <a:t>github.com/pawankumar0new/predictive-maintenance-ai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5438775"/>
            <a:ext cx="4514850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5553075"/>
            <a:ext cx="38862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EBB328"/>
                </a:solidFill>
                <a:latin typeface="Plus Jakarta Sans SemiBold"/>
              </a:rPr>
              <a:t>predictive-maintenance-ai-cg7awmxo9yyshto5fzudof.streamlit.app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2238375"/>
            <a:ext cx="647700" cy="647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43525" y="2371725"/>
            <a:ext cx="2190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8B92A5"/>
                </a:solidFill>
                <a:latin typeface="Merriweather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057525"/>
            <a:ext cx="474059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62938"/>
                </a:solidFill>
                <a:latin typeface="Merriweather"/>
              </a:rPr>
              <a:t>Git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505200"/>
            <a:ext cx="4514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555B6E"/>
                </a:solidFill>
                <a:latin typeface="Plus Jakarta Sans"/>
              </a:rPr>
              <a:t>Access the complete source code, machine learning pipeline, data pre-processing scripts, and architecture documentation.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5657850"/>
            <a:ext cx="1524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238375"/>
            <a:ext cx="647700" cy="647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34700" y="2371725"/>
            <a:ext cx="209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7B829A"/>
                </a:solidFill>
                <a:latin typeface="Merriweather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057525"/>
            <a:ext cx="474059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Merriweather"/>
              </a:rPr>
              <a:t>Deployed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505200"/>
            <a:ext cx="4514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4C9D7"/>
                </a:solidFill>
                <a:latin typeface="Plus Jakarta Sans"/>
              </a:rPr>
              <a:t>Interact directly with the live Streamlit dashboard to test input parameters, evaluate real-time telemetry, and view model predictions.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375" y="5610225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962" y="2409825"/>
            <a:ext cx="295275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9900" y="2428875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28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3D3F5C"/>
          </a:solidFill>
          <a:ln/>
        </p:spPr>
      </p:sp>
      <p:sp>
        <p:nvSpPr>
          <p:cNvPr id="3" name="Shape 1"/>
          <p:cNvSpPr/>
          <p:nvPr/>
        </p:nvSpPr>
        <p:spPr>
          <a:xfrm>
            <a:off x="5637276" y="868680"/>
            <a:ext cx="914400" cy="91440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4" name="Image 0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005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1965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2651760"/>
            <a:ext cx="9079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5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Machine Health &amp; Early Warning System analyzes machine operating conditions — temperature, speed, torque, and tool wear — to predict failure risk, and presents it as a simple health score, risk level, and maintenance recommendation.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796796" y="42519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3D3F5C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96796" y="4251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45636" y="42519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3D3F5C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45636" y="4251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4476" y="42519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3D3F5C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94476" y="4251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43316" y="42519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3D3F5C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43316" y="4251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0" y="5486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D9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544</Words>
  <Application>Microsoft Office PowerPoint</Application>
  <PresentationFormat>Widescreen</PresentationFormat>
  <Paragraphs>119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Merriweather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Salam</cp:lastModifiedBy>
  <cp:revision>8</cp:revision>
  <dcterms:created xsi:type="dcterms:W3CDTF">2026-09-08T06:19:32Z</dcterms:created>
  <dcterms:modified xsi:type="dcterms:W3CDTF">2026-09-08T09:09:30Z</dcterms:modified>
</cp:coreProperties>
</file>